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48512ad-68dc-7760-6547-3986573e8737}">
          <p14:sldIdLst>
            <p14:sldId id="256"/>
          </p14:sldIdLst>
        </p14:section>
        <p14:section name="Insights" id="{c8e21a0f-fad9-924b-4874-33ecf3a51e1d}">
          <p14:sldIdLst>
            <p14:sldId id="257"/>
            <p14:sldId id="258"/>
            <p14:sldId id="259"/>
            <p14:sldId id="260"/>
            <p14:sldId id="261"/>
          </p14:sldIdLst>
        </p14:section>
        <p14:section name="Summary" id="{597b0e32-34dd-8693-57b5-685c62ec06b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+mn-lt"/>
              </a:rPr>
              <a:t>Sales by country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USA</c:v>
                  </c:pt>
                  <c:pt idx="1">
                    <c:v>Spain</c:v>
                  </c:pt>
                  <c:pt idx="2">
                    <c:v>France</c:v>
                  </c:pt>
                  <c:pt idx="3">
                    <c:v>Australia</c:v>
                  </c:pt>
                  <c:pt idx="4">
                    <c:v>UK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1.2</c:v>
                </c:pt>
                <c:pt idx="2">
                  <c:v>1.1</c:v>
                </c:pt>
                <c:pt idx="3">
                  <c:v>0.6</c:v>
                </c:pt>
                <c:pt idx="4">
                  <c:v>0.5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5A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+mn-lt"/>
              </a:rPr>
              <a:t>Share of sales by deal size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bubble3D val="0"/>
            <c:spPr>
              <a:solidFill>
                <a:srgbClr val="9DB4D6"/>
              </a:solidFill>
              <a:effectLst/>
            </c:spPr>
          </c:dPt>
          <c:dPt>
            <c:idx val="2"/>
            <c:bubble3D val="0"/>
            <c:spPr>
              <a:solidFill>
                <a:srgbClr val="5B7DB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Medium</c:v>
                </c:pt>
                <c:pt idx="1">
                  <c:v>Small</c:v>
                </c:pt>
                <c:pt idx="2">
                  <c:v>Large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5.9</c:v>
                </c:pt>
                <c:pt idx="1">
                  <c:v>2.6</c:v>
                </c:pt>
                <c:pt idx="2">
                  <c:v>1.3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+mn-lt"/>
              </a:rPr>
              <a:t>Predicted selling price by product line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selling price (M)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DB4D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Classic Cars</c:v>
                  </c:pt>
                  <c:pt idx="1">
                    <c:v>Vintage Cars</c:v>
                  </c:pt>
                  <c:pt idx="2">
                    <c:v>Trucks &amp; Buses</c:v>
                  </c:pt>
                  <c:pt idx="3">
                    <c:v>Motorcycles</c:v>
                  </c:pt>
                  <c:pt idx="4">
                    <c:v>Planes</c:v>
                  </c:pt>
                  <c:pt idx="5">
                    <c:v>Ships</c:v>
                  </c:pt>
                  <c:pt idx="6">
                    <c:v>Trains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1.7</c:v>
                </c:pt>
                <c:pt idx="2">
                  <c:v>1.1</c:v>
                </c:pt>
                <c:pt idx="3">
                  <c:v>1.1</c:v>
                </c:pt>
                <c:pt idx="4">
                  <c:v>0.9</c:v>
                </c:pt>
                <c:pt idx="5">
                  <c:v>0.7</c:v>
                </c:pt>
                <c:pt idx="6">
                  <c:v>0.2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5A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+mn-lt"/>
              </a:rPr>
              <a:t>Sales vs predicted price by buyer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Euro Shopping Channel</c:v>
                  </c:pt>
                  <c:pt idx="1">
                    <c:v>Mini Gifts Distributors</c:v>
                  </c:pt>
                  <c:pt idx="2">
                    <c:v>Australian Collectors</c:v>
                  </c:pt>
                  <c:pt idx="3">
                    <c:v>Muscle Machine Inc</c:v>
                  </c:pt>
                  <c:pt idx="4">
                    <c:v>La Rochelle Gifts</c:v>
                  </c:pt>
                  <c:pt idx="5">
                    <c:v>Dragon Souvenirs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0.91</c:v>
                </c:pt>
                <c:pt idx="1">
                  <c:v>0.65</c:v>
                </c:pt>
                <c:pt idx="2">
                  <c:v>0.2</c:v>
                </c:pt>
                <c:pt idx="3">
                  <c:v>0.2</c:v>
                </c:pt>
                <c:pt idx="4">
                  <c:v>0.18</c:v>
                </c:pt>
                <c:pt idx="5">
                  <c:v>0.18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price</c:v>
                </c:pt>
              </c:strCache>
            </c:strRef>
          </c:tx>
          <c:spPr>
            <a:solidFill>
              <a:srgbClr val="9DB4D6"/>
            </a:solidFill>
            <a:effectLst/>
          </c:spPr>
          <c:invertIfNegative val="0"/>
          <c:dLbls>
            <c:numFmt formatCode="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Euro Shopping Channel</c:v>
                  </c:pt>
                  <c:pt idx="1">
                    <c:v>Mini Gifts Distributors</c:v>
                  </c:pt>
                  <c:pt idx="2">
                    <c:v>Australian Collectors</c:v>
                  </c:pt>
                  <c:pt idx="3">
                    <c:v>Muscle Machine Inc</c:v>
                  </c:pt>
                  <c:pt idx="4">
                    <c:v>La Rochelle Gifts</c:v>
                  </c:pt>
                  <c:pt idx="5">
                    <c:v>Dragon Souvenirs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0.91</c:v>
                </c:pt>
                <c:pt idx="1">
                  <c:v>0.65</c:v>
                </c:pt>
                <c:pt idx="2">
                  <c:v>0.2</c:v>
                </c:pt>
                <c:pt idx="3">
                  <c:v>0.19</c:v>
                </c:pt>
                <c:pt idx="4">
                  <c:v>0.18</c:v>
                </c:pt>
                <c:pt idx="5">
                  <c:v>0.17</c:v>
                </c:pt>
              </c:numCache>
            </c:numRef>
          </c:val>
        </c:ser>
        <c:dLbls>
          <c:numFmt formatCode="0.0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5A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dashboard: it covers sales by country, deal size, product line, quantity and top buyers.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dashboard layout. Slicers for Status and Product Line let viewers filter every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highlighted bar draws the eye to the USA. Other bars are muted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donut works here because there are only three parts of one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Quantity ordered chart shows the same ranking as value, so the story is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series are nearly equal, which shows the price prediction is accurate at buyer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actions. Each one links back to a chart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BD5E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5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5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Automobile Sales Analysis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Key insights from the Power BI sales dashboard: where sales come from, what sells, and who buys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four business questions</a:t>
            </a:r>
            <a:endParaRPr lang="en-US" sz="2800" dirty="0"/>
          </a:p>
        </p:txBody>
      </p:sp>
      <p:pic>
        <p:nvPicPr>
          <p:cNvPr id="3" name="Dashboard screenshot" descr="/mnt/user-data/uploads/Screenshot_2026-10-04_2014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212080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≈9.8M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sales (sum of deal sizes)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97K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 ordered across 7 product lines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 countries shown, 69% of sales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572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Automobile Sales Analysis dashboard (Power BI). Totals calculated from the chart labels.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5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USA alone brings in about 35% of sales</a:t>
            </a:r>
            <a:endParaRPr lang="en-US" sz="2800" dirty="0"/>
          </a:p>
        </p:txBody>
      </p:sp>
      <p:graphicFrame>
        <p:nvGraphicFramePr>
          <p:cNvPr id="3" name="Sales by country" descr=""/>
          <p:cNvGraphicFramePr/>
          <p:nvPr/>
        </p:nvGraphicFramePr>
        <p:xfrm>
          <a:off x="457200" y="132588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"/>
          <p:cNvSpPr/>
          <p:nvPr/>
        </p:nvSpPr>
        <p:spPr>
          <a:xfrm>
            <a:off x="5852160" y="1325880"/>
            <a:ext cx="2834640" cy="310896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5" name="Insight text"/>
          <p:cNvSpPr txBox="1"/>
          <p:nvPr/>
        </p:nvSpPr>
        <p:spPr>
          <a:xfrm>
            <a:off x="6035040" y="14630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KEY TAKEAWAY</a:t>
            </a:r>
            <a:endParaRPr lang="en-US" sz="1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USA sells almost 3x more than Spain, the next best market. The top 5 countries make up 69% of sales.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SO WHAT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Protect the US business, and test growth campaigns in Spain and France.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572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Sales by country, top 5 countries. USA share = 3.4M of ≈9.8M total.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5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Medium-sized deals drive 60% of sales</a:t>
            </a:r>
            <a:endParaRPr lang="en-US" sz="2800" dirty="0"/>
          </a:p>
        </p:txBody>
      </p:sp>
      <p:sp>
        <p:nvSpPr>
          <p:cNvPr id="3" name="Insight card"/>
          <p:cNvSpPr/>
          <p:nvPr/>
        </p:nvSpPr>
        <p:spPr>
          <a:xfrm>
            <a:off x="457200" y="1325880"/>
            <a:ext cx="2834640" cy="310896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4" name="Insight text"/>
          <p:cNvSpPr txBox="1"/>
          <p:nvPr/>
        </p:nvSpPr>
        <p:spPr>
          <a:xfrm>
            <a:off x="640080" y="14630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KEY TAKEAWAY</a:t>
            </a:r>
            <a:endParaRPr lang="en-US" sz="1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Medium deals bring 5.9M, more than small (2.6M) and large (1.3M) combined.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SO WHAT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Upsell small deals into medium bundles, and grow the large-deal pipeline.</a:t>
            </a:r>
            <a:endParaRPr lang="en-US" sz="1100" dirty="0"/>
          </a:p>
        </p:txBody>
      </p:sp>
      <p:graphicFrame>
        <p:nvGraphicFramePr>
          <p:cNvPr id="5" name="Sales by deal size" descr=""/>
          <p:cNvGraphicFramePr/>
          <p:nvPr/>
        </p:nvGraphicFramePr>
        <p:xfrm>
          <a:off x="3566160" y="132588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72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Sales by deal size: Medium 5.9M, Small 2.6M, Large 1.3M.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5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Cars lead on both value and volume</a:t>
            </a:r>
            <a:endParaRPr lang="en-US" sz="2800" dirty="0"/>
          </a:p>
        </p:txBody>
      </p:sp>
      <p:graphicFrame>
        <p:nvGraphicFramePr>
          <p:cNvPr id="3" name="Value by product line" descr=""/>
          <p:cNvGraphicFramePr/>
          <p:nvPr/>
        </p:nvGraphicFramePr>
        <p:xfrm>
          <a:off x="457200" y="132588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"/>
          <p:cNvSpPr/>
          <p:nvPr/>
        </p:nvSpPr>
        <p:spPr>
          <a:xfrm>
            <a:off x="5852160" y="1325880"/>
            <a:ext cx="2834640" cy="310896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5" name="Insight text"/>
          <p:cNvSpPr txBox="1"/>
          <p:nvPr/>
        </p:nvSpPr>
        <p:spPr>
          <a:xfrm>
            <a:off x="6035040" y="14630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KEY TAKEAWAY</a:t>
            </a:r>
            <a:endParaRPr lang="en-US" sz="1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Classic Cars are ~41% of predicted sales value and 33K of 97K units ordered. Trains are only ~2% of value.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SO WHAT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Classic and Vintage Cars well stocked, and review whether to bundle or trim Trains.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572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Predicted selling price by product line. Units: Classic 33K, Vintage 20K, Motorcycles/Planes/Trucks 11K each, Ships 8K, Trains 3K.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5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buyers make up ~16% of sales</a:t>
            </a:r>
            <a:endParaRPr lang="en-US" sz="2800" dirty="0"/>
          </a:p>
        </p:txBody>
      </p:sp>
      <p:graphicFrame>
        <p:nvGraphicFramePr>
          <p:cNvPr id="3" name="Top buyers" descr=""/>
          <p:cNvGraphicFramePr/>
          <p:nvPr/>
        </p:nvGraphicFramePr>
        <p:xfrm>
          <a:off x="457200" y="132588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"/>
          <p:cNvSpPr/>
          <p:nvPr/>
        </p:nvSpPr>
        <p:spPr>
          <a:xfrm>
            <a:off x="5852160" y="1325880"/>
            <a:ext cx="2834640" cy="310896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5" name="Insight text"/>
          <p:cNvSpPr txBox="1"/>
          <p:nvPr/>
        </p:nvSpPr>
        <p:spPr>
          <a:xfrm>
            <a:off x="6035040" y="14630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KEY TAKEAWAY</a:t>
            </a:r>
            <a:endParaRPr lang="en-US" sz="1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Euro Shopping Channel (0.91M) and Mini Gifts (0.65M) lead. Predicted price almost matches actual sales for every buyer.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SO WHAT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Look after these key accounts, and trust the pricing model for planning.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572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Top 6 buyers. Two largest buyers = 1.56M of ≈9.8M total sales.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5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what to do next</a:t>
            </a:r>
            <a:endParaRPr lang="en-US" sz="2800" dirty="0"/>
          </a:p>
        </p:txBody>
      </p:sp>
      <p:sp>
        <p:nvSpPr>
          <p:cNvPr id="3" name="Summary card Geography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GEOGRAPHY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= 35% of sales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Protect the US, grow Spain and France</a:t>
            </a:r>
            <a:endParaRPr lang="en-US" sz="1100" dirty="0"/>
          </a:p>
        </p:txBody>
      </p:sp>
      <p:sp>
        <p:nvSpPr>
          <p:cNvPr id="5" name="Summary card Deal size"/>
          <p:cNvSpPr/>
          <p:nvPr/>
        </p:nvSpPr>
        <p:spPr>
          <a:xfrm>
            <a:off x="466344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1463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DEAL SIZE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deals = 60%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Upsell small deals, build large ones</a:t>
            </a:r>
            <a:endParaRPr lang="en-US" sz="1100" dirty="0"/>
          </a:p>
        </p:txBody>
      </p:sp>
      <p:sp>
        <p:nvSpPr>
          <p:cNvPr id="7" name="Summary card Products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08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PRODUCTS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Cars = ~41% of value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Prioritise stock, review Trains</a:t>
            </a:r>
            <a:endParaRPr lang="en-US" sz="1100" dirty="0"/>
          </a:p>
        </p:txBody>
      </p:sp>
      <p:sp>
        <p:nvSpPr>
          <p:cNvPr id="9" name="Summary card Buyers"/>
          <p:cNvSpPr/>
          <p:nvPr/>
        </p:nvSpPr>
        <p:spPr>
          <a:xfrm>
            <a:off x="4663440" y="297180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3108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BUYERS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2 buyers = ~16%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Retain key accounts, grow mid-tier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5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 Sales">
  <a:themeElements>
    <a:clrScheme name="Auto Sales">
      <a:dk1>
        <a:srgbClr val="1F2933"/>
      </a:dk1>
      <a:lt1>
        <a:srgbClr val="FFFFFF"/>
      </a:lt1>
      <a:dk2>
        <a:srgbClr val="14213D"/>
      </a:dk2>
      <a:lt2>
        <a:srgbClr val="EEF2F7"/>
      </a:lt2>
      <a:accent1>
        <a:srgbClr val="1E6FD9"/>
      </a:accent1>
      <a:accent2>
        <a:srgbClr val="E8590C"/>
      </a:accent2>
      <a:accent3>
        <a:srgbClr val="14213D"/>
      </a:accent3>
      <a:accent4>
        <a:srgbClr val="8895A7"/>
      </a:accent4>
      <a:accent5>
        <a:srgbClr val="2FA37A"/>
      </a:accent5>
      <a:accent6>
        <a:srgbClr val="C0392B"/>
      </a:accent6>
      <a:hlink>
        <a:srgbClr val="1E6FD9"/>
      </a:hlink>
      <a:folHlink>
        <a:srgbClr val="8895A7"/>
      </a:folHlink>
    </a:clrScheme>
    <a:fontScheme name="Auto Sal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Automobile Sales Analysis</dc:title>
  <dc:subject>PptxGenJS Presentation</dc:subject>
  <dc:creator>PptxGenJS</dc:creator>
  <cp:lastModifiedBy>PptxGenJS</cp:lastModifiedBy>
  <cp:revision>1</cp:revision>
  <dcterms:created xsi:type="dcterms:W3CDTF">2026-10-04T14:57:18Z</dcterms:created>
  <dcterms:modified xsi:type="dcterms:W3CDTF">2026-10-04T14:57:18Z</dcterms:modified>
</cp:coreProperties>
</file>